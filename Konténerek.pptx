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59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62" d="100"/>
          <a:sy n="62" d="100"/>
        </p:scale>
        <p:origin x="8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smtClean="0"/>
              <a:t>Kattintson ide az alcím mintájának szerkesztéséhez</a:t>
            </a:r>
            <a:endParaRPr lang="hu-HU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9ADAC-1920-48B6-9400-36527E1E2438}" type="datetimeFigureOut">
              <a:rPr lang="hu-HU" smtClean="0"/>
              <a:t>2026. 03. 09.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745625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9ADAC-1920-48B6-9400-36527E1E2438}" type="datetimeFigureOut">
              <a:rPr lang="hu-HU" smtClean="0"/>
              <a:t>2026. 03. 09.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86466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9ADAC-1920-48B6-9400-36527E1E2438}" type="datetimeFigureOut">
              <a:rPr lang="hu-HU" smtClean="0"/>
              <a:t>2026. 03. 09.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091051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9ADAC-1920-48B6-9400-36527E1E2438}" type="datetimeFigureOut">
              <a:rPr lang="hu-HU" smtClean="0"/>
              <a:t>2026. 03. 09.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3591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9ADAC-1920-48B6-9400-36527E1E2438}" type="datetimeFigureOut">
              <a:rPr lang="hu-HU" smtClean="0"/>
              <a:t>2026. 03. 09.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726255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9ADAC-1920-48B6-9400-36527E1E2438}" type="datetimeFigureOut">
              <a:rPr lang="hu-HU" smtClean="0"/>
              <a:t>2026. 03. 09.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24161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9ADAC-1920-48B6-9400-36527E1E2438}" type="datetimeFigureOut">
              <a:rPr lang="hu-HU" smtClean="0"/>
              <a:t>2026. 03. 09.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95549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9ADAC-1920-48B6-9400-36527E1E2438}" type="datetimeFigureOut">
              <a:rPr lang="hu-HU" smtClean="0"/>
              <a:t>2026. 03. 09.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45965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9ADAC-1920-48B6-9400-36527E1E2438}" type="datetimeFigureOut">
              <a:rPr lang="hu-HU" smtClean="0"/>
              <a:t>2026. 03. 09.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0039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9ADAC-1920-48B6-9400-36527E1E2438}" type="datetimeFigureOut">
              <a:rPr lang="hu-HU" smtClean="0"/>
              <a:t>2026. 03. 09.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7037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9ADAC-1920-48B6-9400-36527E1E2438}" type="datetimeFigureOut">
              <a:rPr lang="hu-HU" smtClean="0"/>
              <a:t>2026. 03. 09.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7406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mtClean="0"/>
              <a:t>Mintacím szerkesztése</a:t>
            </a:r>
            <a:endParaRPr lang="hu-HU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39ADAC-1920-48B6-9400-36527E1E2438}" type="datetimeFigureOut">
              <a:rPr lang="hu-HU" smtClean="0"/>
              <a:t>2026. 03. 09.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2EFECE-3FE0-4AAA-9FB2-D14E92BB9B7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04829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smtClean="0"/>
              <a:t>Konténerek</a:t>
            </a:r>
            <a:endParaRPr lang="hu-HU" dirty="0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0121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Mi az a konténer?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smtClean="0"/>
              <a:t>Mire használjuk</a:t>
            </a:r>
          </a:p>
          <a:p>
            <a:r>
              <a:rPr lang="hu-HU" dirty="0" smtClean="0"/>
              <a:t>Hol használjuk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447834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3 fő típus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Tengeri és szállítmányozási konténerek (ISO szabvány</a:t>
            </a:r>
            <a:r>
              <a:rPr lang="hu-HU" dirty="0" smtClean="0"/>
              <a:t>)</a:t>
            </a:r>
          </a:p>
          <a:p>
            <a:r>
              <a:rPr lang="hu-HU" dirty="0"/>
              <a:t>Hulladékszállító (sittes) </a:t>
            </a:r>
            <a:r>
              <a:rPr lang="hu-HU" dirty="0" smtClean="0"/>
              <a:t>konténerek</a:t>
            </a:r>
          </a:p>
          <a:p>
            <a:r>
              <a:rPr lang="hu-HU" dirty="0"/>
              <a:t>Speciális és mobil konténerek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9863707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Töri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hu-HU" dirty="0"/>
              <a:t>Első konténer = kamionos pótkocsikat kifejlesztő </a:t>
            </a:r>
            <a:r>
              <a:rPr lang="hu-HU" dirty="0" err="1"/>
              <a:t>Fruehauf</a:t>
            </a:r>
            <a:r>
              <a:rPr lang="hu-HU" dirty="0"/>
              <a:t> </a:t>
            </a:r>
            <a:r>
              <a:rPr lang="hu-HU" dirty="0" err="1"/>
              <a:t>Trailer</a:t>
            </a:r>
            <a:r>
              <a:rPr lang="hu-HU" dirty="0"/>
              <a:t> Corporation segítségével alkotta </a:t>
            </a:r>
            <a:r>
              <a:rPr lang="hu-HU" dirty="0" smtClean="0"/>
              <a:t>meg</a:t>
            </a:r>
          </a:p>
          <a:p>
            <a:r>
              <a:rPr lang="hu-HU" dirty="0" err="1" smtClean="0"/>
              <a:t>McLean</a:t>
            </a:r>
            <a:r>
              <a:rPr lang="hu-HU" dirty="0" smtClean="0"/>
              <a:t> családi benzinkút -&gt; könnyebb szállítmányozás célja</a:t>
            </a:r>
          </a:p>
          <a:p>
            <a:r>
              <a:rPr lang="hu-HU" dirty="0" smtClean="0"/>
              <a:t>Világháború után fontos lett a hatékonyság</a:t>
            </a:r>
          </a:p>
          <a:p>
            <a:r>
              <a:rPr lang="hu-HU" dirty="0" smtClean="0"/>
              <a:t>1955-ben vett tankhajót -&gt; konténer kompatibilis (58 konténer)</a:t>
            </a:r>
          </a:p>
          <a:p>
            <a:r>
              <a:rPr lang="hu-HU" dirty="0" smtClean="0"/>
              <a:t>Eladta a közúti céget, hajózási szállítmányozási céget megvette</a:t>
            </a:r>
          </a:p>
          <a:p>
            <a:r>
              <a:rPr lang="hu-HU" dirty="0" err="1" smtClean="0"/>
              <a:t>McLean</a:t>
            </a:r>
            <a:r>
              <a:rPr lang="hu-HU" dirty="0" smtClean="0"/>
              <a:t> nem </a:t>
            </a:r>
            <a:r>
              <a:rPr lang="hu-HU" dirty="0" err="1" smtClean="0"/>
              <a:t>védette</a:t>
            </a:r>
            <a:r>
              <a:rPr lang="hu-HU" dirty="0" smtClean="0"/>
              <a:t> le, ingyen hozzá férhető a fejlesztéshez</a:t>
            </a:r>
          </a:p>
          <a:p>
            <a:r>
              <a:rPr lang="hu-HU" dirty="0" smtClean="0"/>
              <a:t>1966ban első konténerkikötő New York</a:t>
            </a:r>
          </a:p>
          <a:p>
            <a:r>
              <a:rPr lang="hu-HU" dirty="0" smtClean="0"/>
              <a:t>Egyre több ilyen kikötő</a:t>
            </a:r>
          </a:p>
          <a:p>
            <a:endParaRPr lang="hu-HU" dirty="0" smtClean="0"/>
          </a:p>
          <a:p>
            <a:endParaRPr lang="hu-HU" dirty="0" smtClean="0"/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888828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Típusok(felhasználási típus)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Tengeri, áruszállító konténerek</a:t>
            </a:r>
          </a:p>
          <a:p>
            <a:r>
              <a:rPr lang="hu-HU" dirty="0"/>
              <a:t>Hűtőkonténerek</a:t>
            </a:r>
          </a:p>
          <a:p>
            <a:r>
              <a:rPr lang="hu-HU" dirty="0"/>
              <a:t>Tartálykonténerek</a:t>
            </a:r>
          </a:p>
          <a:p>
            <a:r>
              <a:rPr lang="hu-HU" dirty="0"/>
              <a:t>Irodakonténerek</a:t>
            </a:r>
          </a:p>
          <a:p>
            <a:r>
              <a:rPr lang="hu-HU" dirty="0"/>
              <a:t>Célkonténerek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0346929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Méretek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17481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Szállítás folyamata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fontAlgn="base"/>
            <a:r>
              <a:rPr lang="hu-HU" b="1" dirty="0"/>
              <a:t>Áru előkészítése és csomagolása</a:t>
            </a:r>
            <a:r>
              <a:rPr lang="hu-HU" dirty="0"/>
              <a:t> – Az árut megfelelően be kell csomagolni, hogy ellenálljon a hosszú szállítási időnek és a rakodás során fellépő erőhatásoknak.</a:t>
            </a:r>
          </a:p>
          <a:p>
            <a:pPr fontAlgn="base"/>
            <a:r>
              <a:rPr lang="hu-HU" b="1" dirty="0"/>
              <a:t>Konténer berakodása</a:t>
            </a:r>
            <a:r>
              <a:rPr lang="hu-HU" dirty="0"/>
              <a:t> – Az árukat a megfelelő típusú és méretű konténerbe helyezik, ügyelve az optimális helykihasználásra.</a:t>
            </a:r>
          </a:p>
          <a:p>
            <a:pPr fontAlgn="base"/>
            <a:r>
              <a:rPr lang="hu-HU" b="1" dirty="0"/>
              <a:t>Szállítás a kikötőbe vagy terminálra</a:t>
            </a:r>
            <a:r>
              <a:rPr lang="hu-HU" dirty="0"/>
              <a:t> – A konténert teherautóval vagy vasúton eljuttatják a kikötőbe, ahol a hajókra való berakodás történik.</a:t>
            </a:r>
          </a:p>
          <a:p>
            <a:pPr fontAlgn="base"/>
            <a:r>
              <a:rPr lang="hu-HU" b="1" dirty="0"/>
              <a:t>Tengeri vagy szárazföldi szállítás</a:t>
            </a:r>
            <a:r>
              <a:rPr lang="hu-HU" dirty="0"/>
              <a:t> – A konténer eljut a célországba vagy régióba, ahol az érkező terminálon ismét kirakodásra kerül.</a:t>
            </a:r>
          </a:p>
          <a:p>
            <a:pPr fontAlgn="base"/>
            <a:r>
              <a:rPr lang="hu-HU" b="1" dirty="0"/>
              <a:t>Végső kiszállítás</a:t>
            </a:r>
            <a:r>
              <a:rPr lang="hu-HU" dirty="0"/>
              <a:t> – A konténeres árut eljuttatják a végső címzetthez teherautóval vagy vonattal.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4034603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Paritás használat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FOB – Free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Board</a:t>
            </a:r>
            <a:endParaRPr lang="hu-HU" dirty="0"/>
          </a:p>
          <a:p>
            <a:r>
              <a:rPr lang="hu-HU" dirty="0"/>
              <a:t>FCA (Free </a:t>
            </a:r>
            <a:r>
              <a:rPr lang="hu-HU" dirty="0" err="1"/>
              <a:t>Carrier</a:t>
            </a:r>
            <a:r>
              <a:rPr lang="hu-HU" dirty="0"/>
              <a:t>)</a:t>
            </a:r>
          </a:p>
          <a:p>
            <a:r>
              <a:rPr lang="hu-HU" dirty="0"/>
              <a:t>DAP (</a:t>
            </a:r>
            <a:r>
              <a:rPr lang="hu-HU" dirty="0" err="1"/>
              <a:t>Delivered</a:t>
            </a:r>
            <a:r>
              <a:rPr lang="hu-HU" dirty="0"/>
              <a:t> </a:t>
            </a:r>
            <a:r>
              <a:rPr lang="hu-HU" dirty="0" err="1"/>
              <a:t>at</a:t>
            </a:r>
            <a:r>
              <a:rPr lang="hu-HU" dirty="0"/>
              <a:t> </a:t>
            </a:r>
            <a:r>
              <a:rPr lang="hu-HU" dirty="0" err="1"/>
              <a:t>Place</a:t>
            </a:r>
            <a:r>
              <a:rPr lang="hu-HU" dirty="0"/>
              <a:t>)</a:t>
            </a:r>
          </a:p>
          <a:p>
            <a:r>
              <a:rPr lang="hu-HU" dirty="0"/>
              <a:t>DDP (</a:t>
            </a:r>
            <a:r>
              <a:rPr lang="hu-HU" dirty="0" err="1"/>
              <a:t>Delivered</a:t>
            </a:r>
            <a:r>
              <a:rPr lang="hu-HU" dirty="0"/>
              <a:t> </a:t>
            </a:r>
            <a:r>
              <a:rPr lang="hu-HU" dirty="0" err="1"/>
              <a:t>Duty</a:t>
            </a:r>
            <a:r>
              <a:rPr lang="hu-HU" dirty="0"/>
              <a:t> </a:t>
            </a:r>
            <a:r>
              <a:rPr lang="hu-HU" dirty="0" err="1"/>
              <a:t>Paid</a:t>
            </a:r>
            <a:r>
              <a:rPr lang="hu-HU" dirty="0"/>
              <a:t>)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514244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Előnyök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fontAlgn="base"/>
            <a:r>
              <a:rPr lang="hu-HU" b="1" dirty="0"/>
              <a:t>Költséghatékony</a:t>
            </a:r>
            <a:r>
              <a:rPr lang="hu-HU" dirty="0"/>
              <a:t> – A tömeges áruszállítás révén csökkenti az egy egységre jutó szállítási költségeket.</a:t>
            </a:r>
          </a:p>
          <a:p>
            <a:pPr fontAlgn="base"/>
            <a:r>
              <a:rPr lang="hu-HU" b="1" dirty="0"/>
              <a:t>Biztonságos</a:t>
            </a:r>
            <a:r>
              <a:rPr lang="hu-HU" dirty="0"/>
              <a:t> – A zárt konténerek védik az árut az időjárás viszontagságaitól, lopástól és sérülésektől.</a:t>
            </a:r>
          </a:p>
          <a:p>
            <a:pPr fontAlgn="base"/>
            <a:r>
              <a:rPr lang="hu-HU" b="1" dirty="0" err="1"/>
              <a:t>Intermodális</a:t>
            </a:r>
            <a:r>
              <a:rPr lang="hu-HU" b="1" dirty="0"/>
              <a:t> szállítás</a:t>
            </a:r>
            <a:r>
              <a:rPr lang="hu-HU" dirty="0"/>
              <a:t> – A konténerek könnyen mozgathatók különböző szállítási módok között (hajó, vonat, teherautó), ami rugalmas és hatékony logisztikai megoldást biztosít.</a:t>
            </a:r>
          </a:p>
          <a:p>
            <a:pPr fontAlgn="base"/>
            <a:r>
              <a:rPr lang="hu-HU" b="1" dirty="0"/>
              <a:t>Gyors és megbízható</a:t>
            </a:r>
            <a:r>
              <a:rPr lang="hu-HU" dirty="0"/>
              <a:t> – Az egységesített logisztikai folyamatok révén a szállítási idők előre meghatározhatók és pontosabbak.</a:t>
            </a:r>
          </a:p>
          <a:p>
            <a:pPr fontAlgn="base"/>
            <a:r>
              <a:rPr lang="hu-HU" b="1" dirty="0"/>
              <a:t>Környezetbarát</a:t>
            </a:r>
            <a:r>
              <a:rPr lang="hu-HU" dirty="0"/>
              <a:t> – A hatékony rakodás és szállítás csökkenti az üzemanyag-fogyasztást és a károsanyag-kibocsátást.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49197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Mikor érdemes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base"/>
            <a:r>
              <a:rPr lang="hu-HU" dirty="0"/>
              <a:t>Nagy mennyiségű árut kell messzi </a:t>
            </a:r>
            <a:r>
              <a:rPr lang="hu-HU" dirty="0" err="1"/>
              <a:t>uticélra</a:t>
            </a:r>
            <a:r>
              <a:rPr lang="hu-HU" dirty="0"/>
              <a:t> szállítani.</a:t>
            </a:r>
          </a:p>
          <a:p>
            <a:pPr fontAlgn="base"/>
            <a:r>
              <a:rPr lang="hu-HU" dirty="0"/>
              <a:t>Fontos a rakomány biztonsága és védelme.</a:t>
            </a:r>
          </a:p>
          <a:p>
            <a:pPr fontAlgn="base"/>
            <a:r>
              <a:rPr lang="hu-HU" dirty="0"/>
              <a:t>Költséghatékony megoldást keres a nemzetközi szállítmányozásra.</a:t>
            </a:r>
          </a:p>
          <a:p>
            <a:pPr fontAlgn="base"/>
            <a:r>
              <a:rPr lang="hu-HU" dirty="0"/>
              <a:t>Rendszeres vagy ismétlődő szállításokra van szükség.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4453793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Alkalmazási területek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380367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/>
              <a:t> Mire figyeljen bérlés vagy vásárlás előtt?</a:t>
            </a:r>
            <a:endParaRPr lang="hu-HU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899183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805882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625882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02790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371</Words>
  <Application>Microsoft Office PowerPoint</Application>
  <PresentationFormat>Szélesvásznú</PresentationFormat>
  <Paragraphs>49</Paragraphs>
  <Slides>15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Office-téma</vt:lpstr>
      <vt:lpstr>Konténerek</vt:lpstr>
      <vt:lpstr>Mi az a konténer?</vt:lpstr>
      <vt:lpstr>3 fő típus</vt:lpstr>
      <vt:lpstr>Töri</vt:lpstr>
      <vt:lpstr>Típusok(felhasználási típus)</vt:lpstr>
      <vt:lpstr>Méretek</vt:lpstr>
      <vt:lpstr>Szállítás folyamata</vt:lpstr>
      <vt:lpstr>Paritás használat</vt:lpstr>
      <vt:lpstr>Előnyök</vt:lpstr>
      <vt:lpstr>Mikor érdemes</vt:lpstr>
      <vt:lpstr>Alkalmazási területek</vt:lpstr>
      <vt:lpstr> Mire figyeljen bérlés vagy vásárlás előtt?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Konténerek</dc:title>
  <dc:creator>Diák</dc:creator>
  <cp:lastModifiedBy>Diák</cp:lastModifiedBy>
  <cp:revision>7</cp:revision>
  <dcterms:created xsi:type="dcterms:W3CDTF">2026-03-06T11:43:12Z</dcterms:created>
  <dcterms:modified xsi:type="dcterms:W3CDTF">2026-03-09T09:29:11Z</dcterms:modified>
</cp:coreProperties>
</file>