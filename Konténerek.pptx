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4" r:id="rId4"/>
    <p:sldId id="258" r:id="rId5"/>
    <p:sldId id="261" r:id="rId6"/>
    <p:sldId id="275" r:id="rId7"/>
    <p:sldId id="276" r:id="rId8"/>
    <p:sldId id="277" r:id="rId9"/>
    <p:sldId id="259" r:id="rId10"/>
    <p:sldId id="260" r:id="rId11"/>
    <p:sldId id="262" r:id="rId12"/>
    <p:sldId id="263" r:id="rId13"/>
    <p:sldId id="264" r:id="rId14"/>
    <p:sldId id="265" r:id="rId15"/>
    <p:sldId id="267" r:id="rId16"/>
    <p:sldId id="268" r:id="rId1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74562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86466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091051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3591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72625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4161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95549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45965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039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7037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7406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39ADAC-1920-48B6-9400-36527E1E243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04829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smtClean="0"/>
              <a:t>Konténerek</a:t>
            </a:r>
            <a:endParaRPr lang="hu-HU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0121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Mi az a konténer</a:t>
            </a:r>
            <a:r>
              <a:rPr lang="hu-HU" dirty="0" smtClean="0"/>
              <a:t>? </a:t>
            </a:r>
            <a:endParaRPr lang="hu-HU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1138646" y="2139448"/>
            <a:ext cx="8880566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dirty="0" smtClean="0"/>
              <a:t>Szállító és tárolóegység vagy lakó „épület”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dirty="0" smtClean="0"/>
              <a:t>Fém, műanyag, fa, </a:t>
            </a:r>
            <a:r>
              <a:rPr lang="hu-HU" dirty="0"/>
              <a:t>k</a:t>
            </a:r>
            <a:r>
              <a:rPr lang="hu-HU" dirty="0" smtClean="0"/>
              <a:t>ompozit </a:t>
            </a:r>
            <a:r>
              <a:rPr lang="hu-HU" dirty="0"/>
              <a:t>és szigetelő </a:t>
            </a:r>
            <a:r>
              <a:rPr lang="hu-HU" dirty="0" smtClean="0"/>
              <a:t>anyagokból készül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dirty="0" smtClean="0"/>
              <a:t>Szabványos méret miatt könnyű a mozgatás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dirty="0"/>
              <a:t>A modern nemzetközi áruszállítás egyik legfontosabb eszköze.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3447834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Mire és mikor használjuk?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hu-HU" dirty="0">
                <a:latin typeface="Arial" panose="020B0604020202020204" pitchFamily="34" charset="0"/>
              </a:rPr>
              <a:t>Árucikkek szállítására nagy távolságokra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hu-HU" dirty="0">
                <a:latin typeface="Arial" panose="020B0604020202020204" pitchFamily="34" charset="0"/>
              </a:rPr>
              <a:t>Nemzetközi kereskedelemben áruszállításra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hu-HU" dirty="0">
                <a:latin typeface="Arial" panose="020B0604020202020204" pitchFamily="34" charset="0"/>
              </a:rPr>
              <a:t>Raktározásra és ideiglenes tárolásra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hu-HU" dirty="0">
                <a:latin typeface="Arial" panose="020B0604020202020204" pitchFamily="34" charset="0"/>
              </a:rPr>
              <a:t>Építkezéseken (pl. sittes konténer)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hu-HU" dirty="0">
                <a:latin typeface="Arial" panose="020B0604020202020204" pitchFamily="34" charset="0"/>
              </a:rPr>
              <a:t>Ideiglenes irodák vagy lakókonténerek kialakítására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hu-HU" dirty="0">
                <a:latin typeface="Arial" panose="020B0604020202020204" pitchFamily="34" charset="0"/>
              </a:rPr>
              <a:t>Ha fontos az áru biztonsága és </a:t>
            </a:r>
            <a:r>
              <a:rPr lang="hu-HU" altLang="hu-HU" dirty="0" smtClean="0">
                <a:latin typeface="Arial" panose="020B0604020202020204" pitchFamily="34" charset="0"/>
              </a:rPr>
              <a:t>védelme</a:t>
            </a:r>
            <a:endParaRPr lang="hu-HU" altLang="hu-HU" dirty="0"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hu-HU" dirty="0">
                <a:latin typeface="Arial" panose="020B0604020202020204" pitchFamily="34" charset="0"/>
              </a:rPr>
              <a:t>Ha nagy mennyiségű árut kell szállítani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hu-HU" dirty="0">
                <a:latin typeface="Arial" panose="020B0604020202020204" pitchFamily="34" charset="0"/>
              </a:rPr>
              <a:t>Nemzetközi vagy hosszú távú szállításnál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hu-HU" dirty="0">
                <a:latin typeface="Arial" panose="020B0604020202020204" pitchFamily="34" charset="0"/>
              </a:rPr>
              <a:t>Ha több szállítási módot (hajó, vonat, kamion) kombinálnak.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3937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Töri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Első konténer = kamionos pótkocsikat kifejlesztő </a:t>
            </a:r>
            <a:r>
              <a:rPr lang="hu-HU" dirty="0" err="1"/>
              <a:t>Fruehauf</a:t>
            </a:r>
            <a:r>
              <a:rPr lang="hu-HU" dirty="0"/>
              <a:t> </a:t>
            </a:r>
            <a:r>
              <a:rPr lang="hu-HU" dirty="0" err="1"/>
              <a:t>Trailer</a:t>
            </a:r>
            <a:r>
              <a:rPr lang="hu-HU" dirty="0"/>
              <a:t> Corporation segítségével alkotta </a:t>
            </a:r>
            <a:r>
              <a:rPr lang="hu-HU" dirty="0" smtClean="0"/>
              <a:t>meg</a:t>
            </a:r>
          </a:p>
          <a:p>
            <a:r>
              <a:rPr lang="hu-HU" dirty="0" err="1" smtClean="0"/>
              <a:t>McLean</a:t>
            </a:r>
            <a:r>
              <a:rPr lang="hu-HU" dirty="0" smtClean="0"/>
              <a:t> családi benzinkút -&gt; könnyebb szállítmányozás célja</a:t>
            </a:r>
          </a:p>
          <a:p>
            <a:r>
              <a:rPr lang="hu-HU" dirty="0" smtClean="0"/>
              <a:t>Világháború után fontos lett a hatékonyság</a:t>
            </a:r>
          </a:p>
          <a:p>
            <a:r>
              <a:rPr lang="hu-HU" dirty="0" smtClean="0"/>
              <a:t>1955-ben vett tankhajót -&gt; konténer kompatibilis (58 konténer)</a:t>
            </a:r>
          </a:p>
          <a:p>
            <a:r>
              <a:rPr lang="hu-HU" dirty="0" smtClean="0"/>
              <a:t>Eladta a közúti céget, hajózási szállítmányozási céget megvette</a:t>
            </a:r>
          </a:p>
          <a:p>
            <a:r>
              <a:rPr lang="hu-HU" dirty="0" err="1" smtClean="0"/>
              <a:t>McLean</a:t>
            </a:r>
            <a:r>
              <a:rPr lang="hu-HU" dirty="0" smtClean="0"/>
              <a:t> nem </a:t>
            </a:r>
            <a:r>
              <a:rPr lang="hu-HU" dirty="0" err="1" smtClean="0"/>
              <a:t>védette</a:t>
            </a:r>
            <a:r>
              <a:rPr lang="hu-HU" dirty="0" smtClean="0"/>
              <a:t> le, ingyen hozzá férhető a fejlesztéshez</a:t>
            </a:r>
          </a:p>
          <a:p>
            <a:r>
              <a:rPr lang="hu-HU" dirty="0" smtClean="0"/>
              <a:t>1966ban első konténerkikötő New York</a:t>
            </a:r>
          </a:p>
          <a:p>
            <a:r>
              <a:rPr lang="hu-HU" dirty="0" smtClean="0"/>
              <a:t>Egyre több ilyen kikötő</a:t>
            </a:r>
          </a:p>
          <a:p>
            <a:endParaRPr lang="hu-HU" dirty="0" smtClean="0"/>
          </a:p>
          <a:p>
            <a:endParaRPr lang="hu-HU" dirty="0" smtClean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88828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3 fő típus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Tengeri és szállítmányozási konténerek (ISO szabvány</a:t>
            </a:r>
            <a:r>
              <a:rPr lang="hu-HU" dirty="0" smtClean="0"/>
              <a:t>)</a:t>
            </a:r>
          </a:p>
          <a:p>
            <a:r>
              <a:rPr lang="hu-HU" dirty="0"/>
              <a:t>Hulladékszállító (sittes) </a:t>
            </a:r>
            <a:r>
              <a:rPr lang="hu-HU" dirty="0" smtClean="0"/>
              <a:t>konténerek</a:t>
            </a:r>
          </a:p>
          <a:p>
            <a:r>
              <a:rPr lang="hu-HU" dirty="0"/>
              <a:t>Speciális és mobil konténerek</a:t>
            </a:r>
          </a:p>
        </p:txBody>
      </p:sp>
    </p:spTree>
    <p:extLst>
      <p:ext uri="{BB962C8B-B14F-4D97-AF65-F5344CB8AC3E}">
        <p14:creationId xmlns:p14="http://schemas.microsoft.com/office/powerpoint/2010/main" val="3986370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smtClean="0"/>
              <a:t>Tengeri és szállítmányozási konténerek (ISO szabvány)</a:t>
            </a:r>
            <a:endParaRPr lang="hu-HU" dirty="0"/>
          </a:p>
        </p:txBody>
      </p:sp>
      <p:sp>
        <p:nvSpPr>
          <p:cNvPr id="5" name="Tartalom helye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95612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Hulladékszállító (sittes) </a:t>
            </a:r>
            <a:r>
              <a:rPr lang="hu-HU" dirty="0" smtClean="0"/>
              <a:t>konténerek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8890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Speciális és mobil </a:t>
            </a:r>
            <a:r>
              <a:rPr lang="hu-HU" dirty="0" smtClean="0"/>
              <a:t>konténerek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888650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Főbb konténer típusok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hu-HU" b="1" dirty="0"/>
              <a:t>Általános szállítókonténerek</a:t>
            </a:r>
            <a:endParaRPr lang="hu-HU" dirty="0"/>
          </a:p>
          <a:p>
            <a:pPr lvl="1"/>
            <a:r>
              <a:rPr lang="hu-HU" dirty="0"/>
              <a:t>Standard (</a:t>
            </a:r>
            <a:r>
              <a:rPr lang="hu-HU" dirty="0" err="1"/>
              <a:t>Dry</a:t>
            </a:r>
            <a:r>
              <a:rPr lang="hu-HU" dirty="0"/>
              <a:t>) konténer</a:t>
            </a:r>
          </a:p>
          <a:p>
            <a:pPr lvl="1"/>
            <a:r>
              <a:rPr lang="hu-HU" dirty="0" err="1"/>
              <a:t>High</a:t>
            </a:r>
            <a:r>
              <a:rPr lang="hu-HU" dirty="0"/>
              <a:t> </a:t>
            </a:r>
            <a:r>
              <a:rPr lang="hu-HU" dirty="0" err="1"/>
              <a:t>Cube</a:t>
            </a:r>
            <a:r>
              <a:rPr lang="hu-HU" dirty="0"/>
              <a:t> konténer</a:t>
            </a:r>
          </a:p>
          <a:p>
            <a:r>
              <a:rPr lang="hu-HU" b="1" dirty="0"/>
              <a:t>Speciális szállítókonténerek</a:t>
            </a:r>
            <a:endParaRPr lang="hu-HU" dirty="0"/>
          </a:p>
          <a:p>
            <a:pPr lvl="1"/>
            <a:r>
              <a:rPr lang="hu-HU" dirty="0"/>
              <a:t>Hűtőkonténer (</a:t>
            </a:r>
            <a:r>
              <a:rPr lang="hu-HU" dirty="0" err="1"/>
              <a:t>Reefer</a:t>
            </a:r>
            <a:r>
              <a:rPr lang="hu-HU" dirty="0"/>
              <a:t>)</a:t>
            </a:r>
          </a:p>
          <a:p>
            <a:pPr lvl="1"/>
            <a:r>
              <a:rPr lang="hu-HU" dirty="0"/>
              <a:t>Tartálykonténer</a:t>
            </a:r>
          </a:p>
          <a:p>
            <a:pPr lvl="1"/>
            <a:r>
              <a:rPr lang="hu-HU" dirty="0"/>
              <a:t>Open Top konténer</a:t>
            </a:r>
          </a:p>
          <a:p>
            <a:pPr lvl="1"/>
            <a:r>
              <a:rPr lang="hu-HU" dirty="0" err="1"/>
              <a:t>Flat</a:t>
            </a:r>
            <a:r>
              <a:rPr lang="hu-HU" dirty="0"/>
              <a:t> </a:t>
            </a:r>
            <a:r>
              <a:rPr lang="hu-HU" dirty="0" err="1"/>
              <a:t>Rack</a:t>
            </a:r>
            <a:r>
              <a:rPr lang="hu-HU" dirty="0"/>
              <a:t> konténer</a:t>
            </a:r>
          </a:p>
          <a:p>
            <a:pPr lvl="1"/>
            <a:r>
              <a:rPr lang="hu-HU" dirty="0" err="1"/>
              <a:t>Side</a:t>
            </a:r>
            <a:r>
              <a:rPr lang="hu-HU" dirty="0"/>
              <a:t> Open konténer</a:t>
            </a:r>
          </a:p>
          <a:p>
            <a:pPr lvl="1"/>
            <a:r>
              <a:rPr lang="hu-HU" dirty="0"/>
              <a:t>Ventilált konténer</a:t>
            </a:r>
          </a:p>
          <a:p>
            <a:r>
              <a:rPr lang="hu-HU" b="1" dirty="0"/>
              <a:t>Egyéb felhasználású konténerek</a:t>
            </a:r>
            <a:endParaRPr lang="hu-HU" dirty="0"/>
          </a:p>
          <a:p>
            <a:pPr lvl="1"/>
            <a:r>
              <a:rPr lang="hu-HU" dirty="0"/>
              <a:t>Irodakonténer</a:t>
            </a:r>
          </a:p>
          <a:p>
            <a:pPr lvl="1"/>
            <a:r>
              <a:rPr lang="hu-HU" dirty="0"/>
              <a:t>Lakókonténer</a:t>
            </a:r>
          </a:p>
          <a:p>
            <a:pPr lvl="1"/>
            <a:r>
              <a:rPr lang="hu-HU" dirty="0"/>
              <a:t>Raktárkonténer</a:t>
            </a:r>
          </a:p>
          <a:p>
            <a:pPr lvl="1"/>
            <a:r>
              <a:rPr lang="hu-HU" dirty="0"/>
              <a:t>Hulladékszállító (sittes) konténer</a:t>
            </a:r>
          </a:p>
        </p:txBody>
      </p:sp>
    </p:spTree>
    <p:extLst>
      <p:ext uri="{BB962C8B-B14F-4D97-AF65-F5344CB8AC3E}">
        <p14:creationId xmlns:p14="http://schemas.microsoft.com/office/powerpoint/2010/main" val="3034692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Méretek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74811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Áru s</a:t>
            </a:r>
            <a:r>
              <a:rPr lang="hu-HU" dirty="0" smtClean="0"/>
              <a:t>zállítás </a:t>
            </a:r>
            <a:r>
              <a:rPr lang="hu-HU" dirty="0" smtClean="0"/>
              <a:t>folyamata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hu-HU" b="1" dirty="0"/>
              <a:t>Áru előkészítése és csomagolása</a:t>
            </a:r>
            <a:r>
              <a:rPr lang="hu-HU" dirty="0"/>
              <a:t> – Az árut megfelelően be kell csomagolni, hogy ellenálljon a hosszú szállítási időnek és a rakodás során fellépő erőhatásoknak.</a:t>
            </a:r>
          </a:p>
          <a:p>
            <a:pPr fontAlgn="base"/>
            <a:r>
              <a:rPr lang="hu-HU" b="1" dirty="0"/>
              <a:t>Konténer berakodása</a:t>
            </a:r>
            <a:r>
              <a:rPr lang="hu-HU" dirty="0"/>
              <a:t> – Az árukat a megfelelő típusú és méretű konténerbe helyezik, ügyelve az optimális helykihasználásra.</a:t>
            </a:r>
          </a:p>
          <a:p>
            <a:pPr fontAlgn="base"/>
            <a:r>
              <a:rPr lang="hu-HU" b="1" dirty="0"/>
              <a:t>Szállítás a kikötőbe vagy terminálra</a:t>
            </a:r>
            <a:r>
              <a:rPr lang="hu-HU" dirty="0"/>
              <a:t> – A konténert teherautóval vagy vasúton eljuttatják a kikötőbe, ahol a hajókra való berakodás történik.</a:t>
            </a:r>
          </a:p>
          <a:p>
            <a:pPr fontAlgn="base"/>
            <a:r>
              <a:rPr lang="hu-HU" b="1" dirty="0"/>
              <a:t>Tengeri vagy szárazföldi szállítás</a:t>
            </a:r>
            <a:r>
              <a:rPr lang="hu-HU" dirty="0"/>
              <a:t> – A konténer eljut a célországba vagy régióba, ahol az érkező terminálon ismét kirakodásra kerül.</a:t>
            </a:r>
          </a:p>
          <a:p>
            <a:pPr fontAlgn="base"/>
            <a:r>
              <a:rPr lang="hu-HU" b="1" dirty="0"/>
              <a:t>Végső kiszállítás</a:t>
            </a:r>
            <a:r>
              <a:rPr lang="hu-HU" dirty="0"/>
              <a:t> – A konténeres árut eljuttatják a végső címzetthez teherautóval vagy vonattal.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034603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Paritás használat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FOB – Free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Board</a:t>
            </a:r>
            <a:endParaRPr lang="hu-HU" dirty="0"/>
          </a:p>
          <a:p>
            <a:r>
              <a:rPr lang="hu-HU" dirty="0"/>
              <a:t>FCA (Free </a:t>
            </a:r>
            <a:r>
              <a:rPr lang="hu-HU" dirty="0" err="1"/>
              <a:t>Carrier</a:t>
            </a:r>
            <a:r>
              <a:rPr lang="hu-HU" dirty="0"/>
              <a:t>)</a:t>
            </a:r>
          </a:p>
          <a:p>
            <a:r>
              <a:rPr lang="hu-HU" dirty="0"/>
              <a:t>DAP (</a:t>
            </a:r>
            <a:r>
              <a:rPr lang="hu-HU" dirty="0" err="1"/>
              <a:t>Delivered</a:t>
            </a:r>
            <a:r>
              <a:rPr lang="hu-HU" dirty="0"/>
              <a:t> </a:t>
            </a:r>
            <a:r>
              <a:rPr lang="hu-HU" dirty="0" err="1"/>
              <a:t>at</a:t>
            </a:r>
            <a:r>
              <a:rPr lang="hu-HU" dirty="0"/>
              <a:t> </a:t>
            </a:r>
            <a:r>
              <a:rPr lang="hu-HU" dirty="0" err="1"/>
              <a:t>Place</a:t>
            </a:r>
            <a:r>
              <a:rPr lang="hu-HU" dirty="0"/>
              <a:t>)</a:t>
            </a:r>
          </a:p>
          <a:p>
            <a:r>
              <a:rPr lang="hu-HU" dirty="0"/>
              <a:t>DDP (</a:t>
            </a:r>
            <a:r>
              <a:rPr lang="hu-HU" dirty="0" err="1"/>
              <a:t>Delivered</a:t>
            </a:r>
            <a:r>
              <a:rPr lang="hu-HU" dirty="0"/>
              <a:t> </a:t>
            </a:r>
            <a:r>
              <a:rPr lang="hu-HU" dirty="0" err="1"/>
              <a:t>Duty</a:t>
            </a:r>
            <a:r>
              <a:rPr lang="hu-HU" dirty="0"/>
              <a:t> </a:t>
            </a:r>
            <a:r>
              <a:rPr lang="hu-HU" dirty="0" err="1"/>
              <a:t>Paid</a:t>
            </a:r>
            <a:r>
              <a:rPr lang="hu-HU" dirty="0"/>
              <a:t>)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514244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Előnyök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hu-HU" b="1" dirty="0"/>
              <a:t>Költséghatékony</a:t>
            </a:r>
            <a:r>
              <a:rPr lang="hu-HU" dirty="0"/>
              <a:t> – A tömeges áruszállítás révén csökkenti az egy egységre jutó szállítási költségeket.</a:t>
            </a:r>
          </a:p>
          <a:p>
            <a:pPr fontAlgn="base"/>
            <a:r>
              <a:rPr lang="hu-HU" b="1" dirty="0"/>
              <a:t>Biztonságos</a:t>
            </a:r>
            <a:r>
              <a:rPr lang="hu-HU" dirty="0"/>
              <a:t> – A zárt konténerek védik az árut az időjárás viszontagságaitól, lopástól és sérülésektől.</a:t>
            </a:r>
          </a:p>
          <a:p>
            <a:pPr fontAlgn="base"/>
            <a:r>
              <a:rPr lang="hu-HU" b="1" dirty="0" err="1"/>
              <a:t>Intermodális</a:t>
            </a:r>
            <a:r>
              <a:rPr lang="hu-HU" b="1" dirty="0"/>
              <a:t> szállítás</a:t>
            </a:r>
            <a:r>
              <a:rPr lang="hu-HU" dirty="0"/>
              <a:t> – A konténerek könnyen mozgathatók különböző szállítási módok között (hajó, vonat, teherautó), ami rugalmas és hatékony logisztikai megoldást biztosít.</a:t>
            </a:r>
          </a:p>
          <a:p>
            <a:pPr fontAlgn="base"/>
            <a:r>
              <a:rPr lang="hu-HU" b="1" dirty="0"/>
              <a:t>Gyors és megbízható</a:t>
            </a:r>
            <a:r>
              <a:rPr lang="hu-HU" dirty="0"/>
              <a:t> – Az egységesített logisztikai folyamatok révén a szállítási idők előre meghatározhatók és pontosabbak.</a:t>
            </a:r>
          </a:p>
          <a:p>
            <a:pPr fontAlgn="base"/>
            <a:r>
              <a:rPr lang="hu-HU" b="1" dirty="0"/>
              <a:t>Környezetbarát</a:t>
            </a:r>
            <a:r>
              <a:rPr lang="hu-HU" dirty="0"/>
              <a:t> – A hatékony rakodás és szállítás csökkenti az üzemanyag-fogyasztást és a károsanyag-kibocsátást.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49197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Mikor érdemes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hu-HU" dirty="0"/>
              <a:t>Nagy mennyiségű árut kell messzi </a:t>
            </a:r>
            <a:r>
              <a:rPr lang="hu-HU" dirty="0" err="1"/>
              <a:t>uticélra</a:t>
            </a:r>
            <a:r>
              <a:rPr lang="hu-HU" dirty="0"/>
              <a:t> szállítani.</a:t>
            </a:r>
          </a:p>
          <a:p>
            <a:pPr fontAlgn="base"/>
            <a:r>
              <a:rPr lang="hu-HU" dirty="0"/>
              <a:t>Fontos a rakomány biztonsága és védelme.</a:t>
            </a:r>
          </a:p>
          <a:p>
            <a:pPr fontAlgn="base"/>
            <a:r>
              <a:rPr lang="hu-HU" dirty="0"/>
              <a:t>Költséghatékony megoldást keres a nemzetközi szállítmányozásra.</a:t>
            </a:r>
          </a:p>
          <a:p>
            <a:pPr fontAlgn="base"/>
            <a:r>
              <a:rPr lang="hu-HU" dirty="0"/>
              <a:t>Rendszeres vagy ismétlődő szállításokra van szükség.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45379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/>
              <a:t> Mire figyeljen bérlés vagy vásárlás előtt?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899183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K</a:t>
            </a:r>
            <a:r>
              <a:rPr lang="hu-HU" b="1" dirty="0" smtClean="0"/>
              <a:t>onténerbiztonság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80588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507</Words>
  <Application>Microsoft Office PowerPoint</Application>
  <PresentationFormat>Szélesvásznú</PresentationFormat>
  <Paragraphs>74</Paragraphs>
  <Slides>16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Office-téma</vt:lpstr>
      <vt:lpstr>Konténerek</vt:lpstr>
      <vt:lpstr>Mi az a konténer? </vt:lpstr>
      <vt:lpstr>Mire és mikor használjuk?</vt:lpstr>
      <vt:lpstr>Töri</vt:lpstr>
      <vt:lpstr>3 fő típus</vt:lpstr>
      <vt:lpstr>Tengeri és szállítmányozási konténerek (ISO szabvány)</vt:lpstr>
      <vt:lpstr>Hulladékszállító (sittes) konténerek</vt:lpstr>
      <vt:lpstr>Speciális és mobil konténerek</vt:lpstr>
      <vt:lpstr>Főbb konténer típusok</vt:lpstr>
      <vt:lpstr>Méretek</vt:lpstr>
      <vt:lpstr>Áru szállítás folyamata</vt:lpstr>
      <vt:lpstr>Paritás használat</vt:lpstr>
      <vt:lpstr>Előnyök</vt:lpstr>
      <vt:lpstr>Mikor érdemes</vt:lpstr>
      <vt:lpstr> Mire figyeljen bérlés vagy vásárlás előtt?</vt:lpstr>
      <vt:lpstr>Konténerbiztonság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Konténerek</dc:title>
  <dc:creator>Diák</dc:creator>
  <cp:lastModifiedBy>Diák</cp:lastModifiedBy>
  <cp:revision>15</cp:revision>
  <dcterms:created xsi:type="dcterms:W3CDTF">2026-03-06T11:43:12Z</dcterms:created>
  <dcterms:modified xsi:type="dcterms:W3CDTF">2026-03-10T09:29:31Z</dcterms:modified>
</cp:coreProperties>
</file>